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24682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283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Theme 4 of the PRISM Generative AI Hackathon: Streaming Live RAG. The three problems and four goals come from the theme guide, sections 1 and 1.1.</a:t>
            </a:r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273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Baseline = BaselinePipeline: full utterance, hybrid retrieval, rerank, synthesis. All numbers come from reports/BENCHMARK.md (offline CPU profile, dev scenarios).</a:t>
            </a:r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634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Pipeline follows the theme guide section 2. Retrieval starts while the user is still speaking; sub-queries are searched in parallel; late constraints update only affected claims in the ledger.</a:t>
            </a:r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55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5-minute storyboard from reports/DEMO_SCRIPT.md. Timestamps are the scene start times in the video. Demo video link: to be added once recorded.</a:t>
            </a:r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2311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2788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Use cases are the scenarios named in the theme guide (voice systems, real-time support, workshop planning, travel reimbursement). Numbers are dev-set results from the offline CPU profile.</a:t>
            </a:r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8050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Gate results: reports/FINAL_CHECKLIST.md and reports/BENCHMARK.md. Limitations are the analysed failures F1-F4 plus the two environment-dependent items.</a:t>
            </a:r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812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Step 1 is the only environment-dependent task left: everything else runs and is tested offline.</a:t>
            </a:r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3291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4512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5748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058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4: Streaming Live RAG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NexMind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M.S. Ramaiah Institute Of Technology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Divya Sharma 1ms25cs051@msrit.edu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2-Bhargavi Manoj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Wattamwar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1ms25cs036@msrit.edu</a:t>
            </a:r>
            <a:endParaRPr lang="en-US" sz="1600" dirty="0"/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Ahana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Sh</a:t>
            </a:r>
            <a:r>
              <a:rPr lang="en-IN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arma</a:t>
            </a:r>
            <a:r>
              <a:rPr lang="en-IN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1ms25cs006@msrit.edu</a:t>
            </a:r>
            <a:endParaRPr dirty="0"/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4-Yashaswini A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1ms25cy074@msrit.edu</a:t>
            </a:r>
            <a:endParaRPr lang="en-US" sz="1600"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https://github.com/divyasharma-21/Streaming-live-RAG.git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841248" y="1783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41248" y="178308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704EA6"/>
                </a:solidFill>
                <a:latin typeface="Calibri"/>
              </a:rPr>
              <a:t>THEME 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1248" y="219456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4142B"/>
                </a:solidFill>
                <a:latin typeface="Calibri"/>
              </a:rPr>
              <a:t>Streaming Live RAG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1248" y="274320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Real-time incremental retrieval, multi-intent decomposition and state-preserving answer refinement</a:t>
            </a:r>
          </a:p>
        </p:txBody>
      </p:sp>
      <p:sp>
        <p:nvSpPr>
          <p:cNvPr id="106" name="Oval 105"/>
          <p:cNvSpPr/>
          <p:nvPr/>
        </p:nvSpPr>
        <p:spPr>
          <a:xfrm>
            <a:off x="841248" y="365760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7" name="Picture 106" descr="FaHourglassHal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" y="3778300"/>
            <a:ext cx="261518" cy="26151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508760" y="361188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High conversational latency</a:t>
            </a:r>
          </a:p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Batch RAG waits for the user to finish speaking before it searches.</a:t>
            </a:r>
          </a:p>
        </p:txBody>
      </p:sp>
      <p:sp>
        <p:nvSpPr>
          <p:cNvPr id="109" name="Oval 108"/>
          <p:cNvSpPr/>
          <p:nvPr/>
        </p:nvSpPr>
        <p:spPr>
          <a:xfrm>
            <a:off x="841248" y="457200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0" name="Picture 109" descr="FaLayerGro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" y="4692700"/>
            <a:ext cx="261518" cy="26151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508760" y="452628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Compound, multi-intent requests</a:t>
            </a:r>
          </a:p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One stream of speech often packs several questions together.</a:t>
            </a:r>
          </a:p>
        </p:txBody>
      </p:sp>
      <p:sp>
        <p:nvSpPr>
          <p:cNvPr id="112" name="Oval 111"/>
          <p:cNvSpPr/>
          <p:nvPr/>
        </p:nvSpPr>
        <p:spPr>
          <a:xfrm>
            <a:off x="841248" y="548640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3" name="Picture 112" descr="FaRota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" y="5607100"/>
            <a:ext cx="261518" cy="26151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508760" y="544068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Late-arriving constraints</a:t>
            </a:r>
          </a:p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“Actually, the trip was international”: batch systems restart instead of refining.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629400" y="1783080"/>
            <a:ext cx="4727448" cy="4526280"/>
          </a:xfrm>
          <a:prstGeom prst="roundRect">
            <a:avLst>
              <a:gd name="adj" fmla="val 5000"/>
            </a:avLst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949440" y="1965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 event-driven engine that:</a:t>
            </a:r>
          </a:p>
        </p:txBody>
      </p:sp>
      <p:sp>
        <p:nvSpPr>
          <p:cNvPr id="117" name="Oval 116"/>
          <p:cNvSpPr/>
          <p:nvPr/>
        </p:nvSpPr>
        <p:spPr>
          <a:xfrm>
            <a:off x="6949440" y="2606039"/>
            <a:ext cx="457200" cy="457200"/>
          </a:xfrm>
          <a:prstGeom prst="ellipse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49440" y="26060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F2475"/>
                </a:solidFill>
                <a:latin typeface="Calibri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89520" y="256032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Listens incrementally</a:t>
            </a:r>
          </a:p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predicts retrieval intent before the user finishes</a:t>
            </a:r>
          </a:p>
        </p:txBody>
      </p:sp>
      <p:sp>
        <p:nvSpPr>
          <p:cNvPr id="120" name="Oval 119"/>
          <p:cNvSpPr/>
          <p:nvPr/>
        </p:nvSpPr>
        <p:spPr>
          <a:xfrm>
            <a:off x="6949440" y="3520439"/>
            <a:ext cx="457200" cy="457200"/>
          </a:xfrm>
          <a:prstGeom prst="ellipse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949440" y="3520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F2475"/>
                </a:solidFill>
                <a:latin typeface="Calibri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89520" y="347472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Decomposes multi-intent queries</a:t>
            </a:r>
          </a:p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parallel retrieval for each sub-question</a:t>
            </a:r>
          </a:p>
        </p:txBody>
      </p:sp>
      <p:sp>
        <p:nvSpPr>
          <p:cNvPr id="123" name="Oval 122"/>
          <p:cNvSpPr/>
          <p:nvPr/>
        </p:nvSpPr>
        <p:spPr>
          <a:xfrm>
            <a:off x="6949440" y="4434840"/>
            <a:ext cx="457200" cy="457200"/>
          </a:xfrm>
          <a:prstGeom prst="ellipse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94944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F2475"/>
                </a:solidFill>
                <a:latin typeface="Calibri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89520" y="438912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Refines rather than restarts</a:t>
            </a:r>
          </a:p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updates only the affected claims, keeps session state</a:t>
            </a:r>
          </a:p>
        </p:txBody>
      </p:sp>
      <p:sp>
        <p:nvSpPr>
          <p:cNvPr id="126" name="Oval 125"/>
          <p:cNvSpPr/>
          <p:nvPr/>
        </p:nvSpPr>
        <p:spPr>
          <a:xfrm>
            <a:off x="6949440" y="5349240"/>
            <a:ext cx="457200" cy="457200"/>
          </a:xfrm>
          <a:prstGeom prst="ellipse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949440" y="5349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F2475"/>
                </a:solidFill>
                <a:latin typeface="Calibri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89520" y="530352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Guarantees corpus grounding</a:t>
            </a:r>
          </a:p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strict citations, explicit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41248" y="17373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Standard RAG runs a static, batch turn cycle: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wait for the full utterance → search → synthesize → respond. We implemented exactly that as our baseline and measured both systems on the same 30 scenarios (40 turns).</a:t>
            </a: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841248" y="2560320"/>
          <a:ext cx="10515600" cy="3337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128016" marR="128016" anchor="ctr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Batch RAG (our measured baseline)</a:t>
                      </a:r>
                    </a:p>
                  </a:txBody>
                  <a:tcPr marL="128016" marR="128016" anchor="ctr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PRISM Streaming Live RAG</a:t>
                      </a:r>
                    </a:p>
                  </a:txBody>
                  <a:tcPr marL="128016" marR="128016" anchor="ctr">
                    <a:solidFill>
                      <a:srgbClr val="704E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2B"/>
                          </a:solidFill>
                          <a:latin typeface="Calibri"/>
                        </a:rPr>
                        <a:t>Retrieval starts before the user stops speaking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0% (starts at utterance end)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704EA6"/>
                          </a:solidFill>
                          <a:latin typeface="Calibri"/>
                        </a:rPr>
                        <a:t>97.1% of eligible turns, 0.86 s head start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2B"/>
                          </a:solidFill>
                          <a:latin typeface="Calibri"/>
                        </a:rPr>
                        <a:t>Compound questions</a:t>
                      </a:r>
                    </a:p>
                  </a:txBody>
                  <a:tcPr marL="128016" marR="128016" anchor="ctr"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one query for the whole utterance</a:t>
                      </a:r>
                    </a:p>
                  </a:txBody>
                  <a:tcPr marL="128016" marR="128016" anchor="ctr"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704EA6"/>
                          </a:solidFill>
                          <a:latin typeface="Calibri"/>
                        </a:rPr>
                        <a:t>split into parallel sub-queries</a:t>
                      </a:r>
                    </a:p>
                  </a:txBody>
                  <a:tcPr marL="128016" marR="128016" anchor="ctr"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2B"/>
                          </a:solidFill>
                          <a:latin typeface="Calibri"/>
                        </a:rPr>
                        <a:t>Late constraints (“Actually, …”)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stateless: answers again from scratch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704EA6"/>
                          </a:solidFill>
                          <a:latin typeface="Calibri"/>
                        </a:rPr>
                        <a:t>refined in place: 5/5, versioned claims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2B"/>
                          </a:solidFill>
                          <a:latin typeface="Calibri"/>
                        </a:rPr>
                        <a:t>Formatting requests (“say that more simply”)</a:t>
                      </a:r>
                    </a:p>
                  </a:txBody>
                  <a:tcPr marL="128016" marR="128016" anchor="ctr"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searched the corpus on 6/6 such turns</a:t>
                      </a:r>
                    </a:p>
                  </a:txBody>
                  <a:tcPr marL="128016" marR="128016" anchor="ctr"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704EA6"/>
                          </a:solidFill>
                          <a:latin typeface="Calibri"/>
                        </a:rPr>
                        <a:t>0/6 searches; reuses the last answer</a:t>
                      </a:r>
                    </a:p>
                  </a:txBody>
                  <a:tcPr marL="128016" marR="128016" anchor="ctr"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2B"/>
                          </a:solidFill>
                          <a:latin typeface="Calibri"/>
                        </a:rPr>
                        <a:t>No supporting evidence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uncertainty flagged on 1/5 turns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704EA6"/>
                          </a:solidFill>
                          <a:latin typeface="Calibri"/>
                        </a:rPr>
                        <a:t>3/5 flagged, 0/30 false alarms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841248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841248" y="1874519"/>
            <a:ext cx="1325880" cy="25146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275588" y="2103120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6" name="Picture 115" descr="FaMicrophoneLin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16" y="2212848"/>
            <a:ext cx="237744" cy="237744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932688" y="2697479"/>
            <a:ext cx="1143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704EA6"/>
                </a:solidFill>
                <a:latin typeface="Calibri"/>
              </a:rPr>
              <a:t>Input</a:t>
            </a:r>
          </a:p>
          <a:p>
            <a:pPr algn="ctr"/>
            <a:r>
              <a:rPr sz="1200" b="0" i="0">
                <a:solidFill>
                  <a:srgbClr val="14142B"/>
                </a:solidFill>
                <a:latin typeface="Calibri"/>
              </a:rPr>
              <a:t>streamed transcript chunks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2185416" y="3131820"/>
            <a:ext cx="192024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2395728" y="1874519"/>
            <a:ext cx="1645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2395728" y="1874519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487168" y="1874519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  Retrieval controller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05456" y="2560320"/>
            <a:ext cx="1463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suppression gate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early-retrieval trigger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stability probe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wait / retrieve / no-retrieval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059935" y="3131820"/>
            <a:ext cx="192025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4270248" y="1874519"/>
            <a:ext cx="1645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4270248" y="1874519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361688" y="1874519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  Multi-intent planner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79976" y="2560320"/>
            <a:ext cx="1463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decomposer (rules or LLM)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anti-fragmentation guard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context carry-over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5934455" y="3131820"/>
            <a:ext cx="192025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6144768" y="1874519"/>
            <a:ext cx="1645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6144768" y="1874519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236207" y="1874519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  Retrieval &amp; fusion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54496" y="2560320"/>
            <a:ext cx="1463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BM25 + dense, RRF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rerank + dedupe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per-intent evidence quota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speculative cache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7808975" y="3131820"/>
            <a:ext cx="192025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8019288" y="1874519"/>
            <a:ext cx="1645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8019288" y="1874519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110727" y="1874519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  Grounded synthesis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29015" y="2560320"/>
            <a:ext cx="1463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claim ledger (versions)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delta engine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grounding verifier</a:t>
            </a:r>
          </a:p>
          <a:p>
            <a:pPr marL="171450" indent="-171450" algn="l">
              <a:spcAft>
                <a:spcPts val="400"/>
              </a:spcAft>
              <a:buChar char="•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per-intent uncertainty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9683496" y="3131820"/>
            <a:ext cx="192024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9893808" y="1874519"/>
            <a:ext cx="1325880" cy="25146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0328148" y="2103120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1" name="Picture 140" descr="FaQuoteRigh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876" y="2212848"/>
            <a:ext cx="237744" cy="237744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9966960" y="2697479"/>
            <a:ext cx="1179576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704EA6"/>
                </a:solidFill>
                <a:latin typeface="Calibri"/>
              </a:rPr>
              <a:t>Output</a:t>
            </a:r>
          </a:p>
          <a:p>
            <a:pPr algn="ctr"/>
            <a:r>
              <a:rPr sz="1200" b="0" i="0">
                <a:solidFill>
                  <a:srgbClr val="14142B"/>
                </a:solidFill>
                <a:latin typeface="Calibri"/>
              </a:rPr>
              <a:t>streamed answer + [Doc §] citations + version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41248" y="4663440"/>
            <a:ext cx="3322320" cy="118872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024128" y="4937759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5" name="Picture 144" descr="Fa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801" y="5069433"/>
            <a:ext cx="285292" cy="285292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709928" y="4773168"/>
            <a:ext cx="2316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F2475"/>
                </a:solidFill>
                <a:latin typeface="Calibri"/>
              </a:rPr>
              <a:t>Session store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ephemeral, per session; claim diffs: added / changed / removed / unchanged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437888" y="4663440"/>
            <a:ext cx="3322320" cy="118872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4620768" y="4937759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9" name="Picture 148" descr="Fa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441" y="5069433"/>
            <a:ext cx="285292" cy="285292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5306568" y="4773168"/>
            <a:ext cx="2316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F2475"/>
                </a:solidFill>
                <a:latin typeface="Calibri"/>
              </a:rPr>
              <a:t>LLM client (src/llm/client.py)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local Ollama 7–8B instruct; one interface, health check, no silent fallback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34528" y="4663440"/>
            <a:ext cx="3322320" cy="118872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8217408" y="4937759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3" name="Picture 152" descr="FaChart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9081" y="5069433"/>
            <a:ext cx="285292" cy="285292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8903208" y="4773168"/>
            <a:ext cx="2316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3F2475"/>
                </a:solidFill>
                <a:latin typeface="Calibri"/>
              </a:rPr>
              <a:t>Telemetry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JSONL trace per request: decisions, sub-queries, claim → source, latency, tokens, cost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One asyncio process, no multi-agent framework: every decision is a typed function call, logged.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41248" y="1783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069848" y="201168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2" name="Picture 121" descr="Fa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8" y="2132380"/>
            <a:ext cx="261518" cy="26151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709928" y="2011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0:25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9848" y="2606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Early retrieval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9848" y="29718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4142B"/>
                </a:solidFill>
                <a:latin typeface="Calibri"/>
              </a:rPr>
              <a:t>Retrieval starts at 0.0–0.8 s, before the utterance ends.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69848" y="3493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04EA6"/>
                </a:solidFill>
                <a:latin typeface="Calibri"/>
              </a:rPr>
              <a:t>single_02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4681728" y="201168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9" name="Picture 128" descr="FaCodeBra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428" y="2132380"/>
            <a:ext cx="261518" cy="26151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5321808" y="2011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1:10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81728" y="2606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Multi-intent split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81728" y="29718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4142B"/>
                </a:solidFill>
                <a:latin typeface="Calibri"/>
              </a:rPr>
              <a:t>One utterance → three parallel sub-queries → one cited answer.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81728" y="3493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04EA6"/>
                </a:solidFill>
                <a:latin typeface="Calibri"/>
              </a:rPr>
              <a:t>multi_03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065008" y="1783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8293608" y="201168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6" name="Picture 135" descr="FaRota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308" y="2132380"/>
            <a:ext cx="261518" cy="261518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8933688" y="2011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1:55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93608" y="2606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Late-detail refinement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93608" y="29718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4142B"/>
                </a:solidFill>
                <a:latin typeface="Calibri"/>
              </a:rPr>
              <a:t>“Actually, focus on grounding…” → v2 keeps old claims, searches the delta.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93608" y="3493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04EA6"/>
                </a:solidFill>
                <a:latin typeface="Calibri"/>
              </a:rPr>
              <a:t>late_02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41248" y="4069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069848" y="429768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3" name="Picture 142" descr="FaEyeSlas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548" y="4418380"/>
            <a:ext cx="261518" cy="261518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709928" y="4297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2:50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69848" y="4892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Query suppression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9848" y="52578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4142B"/>
                </a:solidFill>
                <a:latin typeface="Calibri"/>
              </a:rPr>
              <a:t>“Say that again but more simply”: no retrieval, same citations.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69848" y="5779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04EA6"/>
                </a:solidFill>
                <a:latin typeface="Calibri"/>
              </a:rPr>
              <a:t>present_04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453128" y="4069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4681728" y="429768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0" name="Picture 149" descr="FaBoo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428" y="4418380"/>
            <a:ext cx="261518" cy="261518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5321808" y="4297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3:30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81728" y="4892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Citation traceability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681728" y="52578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4142B"/>
                </a:solidFill>
                <a:latin typeface="Calibri"/>
              </a:rPr>
              <a:t>Every [Doc §] resolves to corpus text; fake ids are rejected.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81728" y="5779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04EA6"/>
                </a:solidFill>
                <a:latin typeface="Calibri"/>
              </a:rPr>
              <a:t>src.corpus.show "Doc_01 §5"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065008" y="4069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8293608" y="429768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7" name="Picture 156" descr="FaWaveSquar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4308" y="4418380"/>
            <a:ext cx="261518" cy="26151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933688" y="4297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4:15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93608" y="4892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Live telemetry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93608" y="52578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4142B"/>
                </a:solidFill>
                <a:latin typeface="Calibri"/>
              </a:rPr>
              <a:t>tail -f the JSONL trace as it happens; coverage checker reports 100%.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93608" y="5779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04EA6"/>
                </a:solidFill>
                <a:latin typeface="Calibri"/>
              </a:rPr>
              <a:t>src.telemetry.coverage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1248" y="61447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3637E"/>
                </a:solidFill>
                <a:latin typeface="Calibri"/>
              </a:rPr>
              <a:t>One command per scene; </a:t>
            </a:r>
            <a:r>
              <a:rPr sz="1200" b="0" i="0">
                <a:solidFill>
                  <a:srgbClr val="63637E"/>
                </a:solidFill>
                <a:latin typeface="Calibri"/>
              </a:rPr>
              <a:t>--clock wall replays the stream at speaking speed. Full storyboard: reports/DEMO_SCRIPT.md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41248" y="1783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69848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8" name="Picture 127" descr="FaPyth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21" y="2143353"/>
            <a:ext cx="285292" cy="285292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755648" y="2011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Core runtime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9848" y="2697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Python 3.11, asyncio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pydantic v2 typed events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single process, CPU-only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4681728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3" name="Picture 132" descr="FaMagnifyingGl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01" y="2143353"/>
            <a:ext cx="285292" cy="285292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5367528" y="2011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Retrieval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81728" y="2697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rank-bm25 sparse search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numpy hashing dense embedder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RRF fusion + lexical reranker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65008" y="1783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8293608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8" name="Picture 137" descr="Fa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281" y="2143353"/>
            <a:ext cx="285292" cy="28529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8979408" y="2011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LLM (intended profile)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93608" y="2697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Ollama, local 7–8B instruct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default tag llama3.1:8b (configurable)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OpenAI-compatible client option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41248" y="4069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069848" y="4297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3" name="Picture 142" descr="FaShieldHalve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521" y="4429353"/>
            <a:ext cx="285292" cy="285292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755648" y="4297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Grounding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69848" y="4983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citation id + support verifier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lexical / NLI / LLM judge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per-intent uncertainty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453128" y="4069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4681728" y="4297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8" name="Picture 147" descr="FaFlas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401" y="4429353"/>
            <a:ext cx="285292" cy="285292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5367528" y="4297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Evaluation &amp; telemetry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81728" y="4983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replay runner, gates G1–G6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JSONL telemetry + JSON schema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pytest: 278 tests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65008" y="40690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8293608" y="4297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3" name="Picture 152" descr="FaDock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5281" y="4429353"/>
            <a:ext cx="285292" cy="285292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8979408" y="4297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Packaging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93608" y="4983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Docker + docker compose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pinned requirements + uv.lock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Makefile, scripts/run_all.sh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41248" y="61447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3637E"/>
                </a:solidFill>
                <a:latin typeface="Calibri"/>
              </a:rPr>
              <a:t>Optional: </a:t>
            </a:r>
            <a:r>
              <a:rPr sz="1200" b="0" i="0">
                <a:solidFill>
                  <a:srgbClr val="63637E"/>
                </a:solidFill>
                <a:latin typeface="Calibri"/>
              </a:rPr>
              <a:t>sentence-transformers embedder, cross-encoder reranker and NLI judge (make install-optional).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41248" y="17830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F2475"/>
                </a:solidFill>
                <a:latin typeface="Calibri"/>
              </a:rPr>
              <a:t>Where it fits</a:t>
            </a:r>
          </a:p>
        </p:txBody>
      </p:sp>
      <p:sp>
        <p:nvSpPr>
          <p:cNvPr id="133" name="Oval 132"/>
          <p:cNvSpPr/>
          <p:nvPr/>
        </p:nvSpPr>
        <p:spPr>
          <a:xfrm>
            <a:off x="841248" y="2377439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4" name="Picture 133" descr="FaMicrophoneLin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" y="2498140"/>
            <a:ext cx="261518" cy="26151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508760" y="233172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Conversational voice assistants</a:t>
            </a:r>
          </a:p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Evidence is already retrieved when the user stops speaking.</a:t>
            </a:r>
          </a:p>
        </p:txBody>
      </p:sp>
      <p:sp>
        <p:nvSpPr>
          <p:cNvPr id="136" name="Oval 135"/>
          <p:cNvSpPr/>
          <p:nvPr/>
        </p:nvSpPr>
        <p:spPr>
          <a:xfrm>
            <a:off x="841248" y="3657599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7" name="Picture 136" descr="FaHeads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" y="3778300"/>
            <a:ext cx="261518" cy="26151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1508760" y="3611879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Real-time support</a:t>
            </a:r>
          </a:p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“Plan a workshop for 30 in Pune: cancellation policy and catering?” → three sub-questions, one cited answer.</a:t>
            </a:r>
          </a:p>
        </p:txBody>
      </p:sp>
      <p:sp>
        <p:nvSpPr>
          <p:cNvPr id="139" name="Oval 138"/>
          <p:cNvSpPr/>
          <p:nvPr/>
        </p:nvSpPr>
        <p:spPr>
          <a:xfrm>
            <a:off x="841248" y="4937759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0" name="Picture 139" descr="Fa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" y="5058460"/>
            <a:ext cx="261518" cy="26151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508760" y="489204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Policy questions that evolve</a:t>
            </a:r>
          </a:p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“The trip was international” updates the reimbursement answer without starting over.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327648" y="178308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556248" y="201168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0.86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556248" y="292608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average retrieval head start before the user finishes speaking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070848" y="178308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299448" y="201168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704EA6"/>
                </a:solidFill>
                <a:latin typeface="Calibri"/>
              </a:rPr>
              <a:t>97%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299448" y="292608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of eligible turns retrieve early (target ≥ 80%)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327648" y="416052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556248" y="438912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704EA6"/>
                </a:solidFill>
                <a:latin typeface="Calibr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556248" y="530352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fabricated citation ids across 131 emitted claims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70848" y="416052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299448" y="438912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0 / 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99448" y="530352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corpus searches on formatting-only requests (baseline 6/6)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841248" y="1874519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9" name="Picture 138" descr="Fa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84248"/>
            <a:ext cx="237744" cy="237744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1435608" y="1874519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Innovation highlights</a:t>
            </a:r>
          </a:p>
        </p:txBody>
      </p:sp>
      <p:sp>
        <p:nvSpPr>
          <p:cNvPr id="141" name="Oval 140"/>
          <p:cNvSpPr/>
          <p:nvPr/>
        </p:nvSpPr>
        <p:spPr>
          <a:xfrm>
            <a:off x="4398264" y="1874519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2" name="Picture 141" descr="FaList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984248"/>
            <a:ext cx="237744" cy="23774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992624" y="1874519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Results: gates G1–G6</a:t>
            </a:r>
          </a:p>
        </p:txBody>
      </p:sp>
      <p:sp>
        <p:nvSpPr>
          <p:cNvPr id="144" name="Oval 143"/>
          <p:cNvSpPr/>
          <p:nvPr/>
        </p:nvSpPr>
        <p:spPr>
          <a:xfrm>
            <a:off x="7955280" y="1874519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5" name="Picture 144" descr="FaCircleQuesti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984248"/>
            <a:ext cx="237744" cy="23774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8549640" y="1874519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F2475"/>
                </a:solidFill>
                <a:latin typeface="Calibri"/>
              </a:rPr>
              <a:t>Limitations (honest)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41248" y="2487168"/>
            <a:ext cx="3401568" cy="868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05840" y="2560320"/>
            <a:ext cx="31272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Speak-time retrieval</a:t>
            </a:r>
          </a:p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rule trigger + suppression gate fire searches mid-utterance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41248" y="3465576"/>
            <a:ext cx="3401568" cy="868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05840" y="3538728"/>
            <a:ext cx="31272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Claim ledger</a:t>
            </a:r>
          </a:p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versioned claims; late details change only what they touch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41248" y="4443984"/>
            <a:ext cx="3401568" cy="868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05840" y="4517136"/>
            <a:ext cx="31272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Per-intent evidence quota</a:t>
            </a:r>
          </a:p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 weak sub-question keeps its evidence after fusion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41248" y="5422392"/>
            <a:ext cx="3401568" cy="8686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05840" y="5495544"/>
            <a:ext cx="31272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Verified citations</a:t>
            </a:r>
          </a:p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id exists + claim supported, or explicit uncertainty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398264" y="2487168"/>
            <a:ext cx="340156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35424" y="2487168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04EA6"/>
                </a:solidFill>
                <a:latin typeface="Calibri"/>
              </a:rPr>
              <a:t>G1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928616" y="2487168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Reproducibility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565392" y="2596896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565392" y="2596896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Docker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398264" y="3108960"/>
            <a:ext cx="340156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535424" y="3108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04EA6"/>
                </a:solidFill>
                <a:latin typeface="Calibri"/>
              </a:rPr>
              <a:t>G2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928616" y="310896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Early retrieval ≥ 80%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565392" y="3218688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565392" y="3218688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97.1%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398264" y="3730752"/>
            <a:ext cx="340156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535424" y="3730752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04EA6"/>
                </a:solidFill>
                <a:latin typeface="Calibri"/>
              </a:rPr>
              <a:t>G3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28616" y="3730752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Multi-intent ≥ 70%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565392" y="3840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565392" y="3840480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398264" y="4352544"/>
            <a:ext cx="340156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535424" y="4352544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04EA6"/>
                </a:solidFill>
                <a:latin typeface="Calibri"/>
              </a:rPr>
              <a:t>G4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928616" y="4352544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Grounding ≥ 85%, 0 fake ids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565392" y="4462272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565392" y="4462272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100%, 0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398264" y="4974336"/>
            <a:ext cx="340156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535424" y="497433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04EA6"/>
                </a:solidFill>
                <a:latin typeface="Calibri"/>
              </a:rPr>
              <a:t>G5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928616" y="4974336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Session refinement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565392" y="5084064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565392" y="5084064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 / 5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398264" y="5596127"/>
            <a:ext cx="340156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4535424" y="5596127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04EA6"/>
                </a:solidFill>
                <a:latin typeface="Calibri"/>
              </a:rPr>
              <a:t>G6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928616" y="5596127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Telemetry coverage 100%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565392" y="5705855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6565392" y="5705855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80 / 80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398264" y="6236207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3637E"/>
                </a:solidFill>
                <a:latin typeface="Calibri"/>
              </a:rPr>
              <a:t>Offline CPU profile on 30 dev scenarios; held-out set is private.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55280" y="2487168"/>
            <a:ext cx="3401568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Clr>
                <a:srgbClr val="B45309"/>
              </a:buClr>
              <a:buChar char="■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7–8B model not yet run: LLM quality, latency and memory are unmeasured</a:t>
            </a:r>
          </a:p>
          <a:p>
            <a:pPr marL="228600" indent="-228600" algn="l">
              <a:spcAft>
                <a:spcPts val="900"/>
              </a:spcAft>
              <a:buClr>
                <a:srgbClr val="B45309"/>
              </a:buClr>
              <a:buChar char="■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G1 container run pending (Docker not available on our machine)</a:t>
            </a:r>
          </a:p>
          <a:p>
            <a:pPr marL="228600" indent="-228600" algn="l">
              <a:spcAft>
                <a:spcPts val="900"/>
              </a:spcAft>
              <a:buClr>
                <a:srgbClr val="B45309"/>
              </a:buClr>
              <a:buChar char="■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Topical but unanswerable questions can still get an answer (lexical judge)</a:t>
            </a:r>
          </a:p>
          <a:p>
            <a:pPr marL="228600" indent="-228600" algn="l">
              <a:spcAft>
                <a:spcPts val="900"/>
              </a:spcAft>
              <a:buClr>
                <a:srgbClr val="B45309"/>
              </a:buClr>
              <a:buChar char="■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“it” referring to an earlier turn is not resolved</a:t>
            </a:r>
          </a:p>
          <a:p>
            <a:pPr marL="228600" indent="-228600" algn="l">
              <a:spcAft>
                <a:spcPts val="900"/>
              </a:spcAft>
              <a:buClr>
                <a:srgbClr val="B45309"/>
              </a:buClr>
              <a:buChar char="■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Small, draft dev set (40 turns); BM25 dominates hybrid search on 16 chunks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cxnSp>
        <p:nvCxnSpPr>
          <p:cNvPr id="144" name="Connector 143"/>
          <p:cNvCxnSpPr/>
          <p:nvPr/>
        </p:nvCxnSpPr>
        <p:spPr>
          <a:xfrm>
            <a:off x="2035682" y="2560320"/>
            <a:ext cx="8126731" cy="0"/>
          </a:xfrm>
          <a:prstGeom prst="line">
            <a:avLst/>
          </a:prstGeom>
          <a:ln w="38100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1624203" y="2148840"/>
            <a:ext cx="822960" cy="8229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6" name="Picture 145" descr="FaDock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370" y="2350008"/>
            <a:ext cx="420624" cy="420624"/>
          </a:xfrm>
          <a:prstGeom prst="rect">
            <a:avLst/>
          </a:prstGeom>
        </p:spPr>
      </p:pic>
      <p:sp>
        <p:nvSpPr>
          <p:cNvPr id="147" name="Rounded Rectangle 146"/>
          <p:cNvSpPr/>
          <p:nvPr/>
        </p:nvSpPr>
        <p:spPr>
          <a:xfrm>
            <a:off x="841248" y="3291840"/>
            <a:ext cx="2388870" cy="28346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42416" y="3447288"/>
            <a:ext cx="198653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STEP 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42416" y="3776472"/>
            <a:ext cx="198653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Final Docker run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42416" y="4434840"/>
            <a:ext cx="198653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docker compose up on a machine that can run a 7–8B model: verifies G1 and the intended LLM runtime together.</a:t>
            </a:r>
          </a:p>
        </p:txBody>
      </p:sp>
      <p:sp>
        <p:nvSpPr>
          <p:cNvPr id="151" name="Oval 150"/>
          <p:cNvSpPr/>
          <p:nvPr/>
        </p:nvSpPr>
        <p:spPr>
          <a:xfrm>
            <a:off x="4333113" y="2148840"/>
            <a:ext cx="822960" cy="822960"/>
          </a:xfrm>
          <a:prstGeom prst="ellipse">
            <a:avLst/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2" name="Picture 151" descr="Fa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280" y="2350008"/>
            <a:ext cx="420624" cy="420624"/>
          </a:xfrm>
          <a:prstGeom prst="rect">
            <a:avLst/>
          </a:prstGeom>
        </p:spPr>
      </p:pic>
      <p:sp>
        <p:nvSpPr>
          <p:cNvPr id="153" name="Rounded Rectangle 152"/>
          <p:cNvSpPr/>
          <p:nvPr/>
        </p:nvSpPr>
        <p:spPr>
          <a:xfrm>
            <a:off x="3550158" y="3291840"/>
            <a:ext cx="2388870" cy="28346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751326" y="3447288"/>
            <a:ext cx="198653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STEP 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751326" y="3776472"/>
            <a:ext cx="198653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Measure the LLM profile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51326" y="4434840"/>
            <a:ext cx="198653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make ablate-llm: LLM decomposer, synthesis and judge; generation latency and memory.</a:t>
            </a:r>
          </a:p>
        </p:txBody>
      </p:sp>
      <p:sp>
        <p:nvSpPr>
          <p:cNvPr id="157" name="Oval 156"/>
          <p:cNvSpPr/>
          <p:nvPr/>
        </p:nvSpPr>
        <p:spPr>
          <a:xfrm>
            <a:off x="7042022" y="2148840"/>
            <a:ext cx="822960" cy="822960"/>
          </a:xfrm>
          <a:prstGeom prst="ellipse">
            <a:avLst/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8" name="Picture 157" descr="FaCodeCompar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190" y="2350008"/>
            <a:ext cx="420624" cy="420624"/>
          </a:xfrm>
          <a:prstGeom prst="rect">
            <a:avLst/>
          </a:prstGeom>
        </p:spPr>
      </p:pic>
      <p:sp>
        <p:nvSpPr>
          <p:cNvPr id="159" name="Rounded Rectangle 158"/>
          <p:cNvSpPr/>
          <p:nvPr/>
        </p:nvSpPr>
        <p:spPr>
          <a:xfrm>
            <a:off x="6259068" y="3291840"/>
            <a:ext cx="2388870" cy="28346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460236" y="3447288"/>
            <a:ext cx="198653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STEP 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460236" y="3776472"/>
            <a:ext cx="198653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Close analysed gaps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460236" y="4434840"/>
            <a:ext cx="198653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semantic embedder / cross-encoder, an answerability-aware judge, cross-turn back-references.</a:t>
            </a:r>
          </a:p>
        </p:txBody>
      </p:sp>
      <p:sp>
        <p:nvSpPr>
          <p:cNvPr id="163" name="Oval 162"/>
          <p:cNvSpPr/>
          <p:nvPr/>
        </p:nvSpPr>
        <p:spPr>
          <a:xfrm>
            <a:off x="9750933" y="2148840"/>
            <a:ext cx="822960" cy="822960"/>
          </a:xfrm>
          <a:prstGeom prst="ellipse">
            <a:avLst/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4" name="Picture 163" descr="FaList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2101" y="2350008"/>
            <a:ext cx="420624" cy="420624"/>
          </a:xfrm>
          <a:prstGeom prst="rect">
            <a:avLst/>
          </a:prstGeom>
        </p:spPr>
      </p:pic>
      <p:sp>
        <p:nvSpPr>
          <p:cNvPr id="165" name="Rounded Rectangle 164"/>
          <p:cNvSpPr/>
          <p:nvPr/>
        </p:nvSpPr>
        <p:spPr>
          <a:xfrm>
            <a:off x="8967978" y="3291840"/>
            <a:ext cx="2388870" cy="28346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169146" y="3447288"/>
            <a:ext cx="198653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STEP 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69146" y="3776472"/>
            <a:ext cx="198653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Broaden evaluation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169146" y="4434840"/>
            <a:ext cx="198653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human-reviewed, larger scenario set (contradictions, noun-phrase multi-intents); record the demo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841248" y="1920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3F2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069848" y="2148840"/>
            <a:ext cx="548640" cy="548640"/>
          </a:xfrm>
          <a:prstGeom prst="ellipse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2" name="Picture 151" descr="FaRotat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21" y="2280513"/>
            <a:ext cx="285292" cy="285292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755648" y="2148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Refines, never restarts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9848" y="28346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D9D3F0"/>
                </a:solidFill>
                <a:latin typeface="Calibri"/>
              </a:rPr>
              <a:t>A late constraint touches only the affected claims; each turn records added / changed / removed / unchanged.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453128" y="1920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4681728" y="214884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7" name="Picture 156" descr="FaEyeSlas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01" y="2280513"/>
            <a:ext cx="285292" cy="285292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5367528" y="2148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F2475"/>
                </a:solidFill>
                <a:latin typeface="Calibri"/>
              </a:rPr>
              <a:t>Knows when not to search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81728" y="28346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Formatting requests are suppressed: zero retrieval, citations reused, none invented.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65008" y="1920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8293608" y="214884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2" name="Picture 161" descr="FaShieldHalve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281" y="2280513"/>
            <a:ext cx="285292" cy="285292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8979408" y="2148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F2475"/>
                </a:solidFill>
                <a:latin typeface="Calibri"/>
              </a:rPr>
              <a:t>Zero fabricated citations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293608" y="28346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Every [Doc §] must exist and support its claim; a shuffled-citation control scores 0.0.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41248" y="4206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069848" y="443484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7" name="Picture 166" descr="FaCircleQuestio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521" y="4566513"/>
            <a:ext cx="285292" cy="285292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755648" y="4434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F2475"/>
                </a:solidFill>
                <a:latin typeface="Calibri"/>
              </a:rPr>
              <a:t>Uncertainty per sub-question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69848" y="51206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Answers what the corpus supports and flags the rest, instead of guessing.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453128" y="4206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4681728" y="443484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2" name="Picture 171" descr="FaChart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401" y="4566513"/>
            <a:ext cx="285292" cy="285292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5367528" y="4434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F2475"/>
                </a:solidFill>
                <a:latin typeface="Calibri"/>
              </a:rPr>
              <a:t>100% traceable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681728" y="51206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Every request has a full JSONL trace; any citation resolves to corpus text with one command.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065008" y="4206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8293608" y="443484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7" name="Picture 176" descr="FaTermina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5281" y="4566513"/>
            <a:ext cx="285292" cy="285292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8979408" y="4434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F2475"/>
                </a:solidFill>
                <a:latin typeface="Calibri"/>
              </a:rPr>
              <a:t>Reproducible and honest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293608" y="51206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One command runs tests and replay; no benchmark text in code (tested); no silent LLM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</a:t>
            </a:r>
            <a:r>
              <a:rPr lang="en-US" sz="28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repo: Y 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instructions: 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</a:t>
            </a: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file (PPT or PDF): Y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1624</Words>
  <Application>Microsoft Office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Binny Lakra/PRISM /SRI-Bangalore/Professional/Samsung Electronics</dc:creator>
  <cp:lastModifiedBy>Divya Sharma</cp:lastModifiedBy>
  <cp:revision>4</cp:revision>
  <dcterms:created xsi:type="dcterms:W3CDTF">2026-09-07T12:01:01Z</dcterms:created>
  <dcterms:modified xsi:type="dcterms:W3CDTF">2026-09-30T18:37:16Z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